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502920"/>
            <a:ext cx="2194560" cy="2194560"/>
          </a:xfrm>
          <a:prstGeom prst="ellipse">
            <a:avLst/>
          </a:prstGeom>
          <a:solidFill>
            <a:srgbClr val="DAF1ED"/>
          </a:solidFill>
          <a:ln>
            <a:solidFill>
              <a:srgbClr val="DA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45720"/>
            <a:ext cx="1234440" cy="1234440"/>
          </a:xfrm>
          <a:prstGeom prst="ellipse">
            <a:avLst/>
          </a:prstGeom>
          <a:solidFill>
            <a:srgbClr val="E0EEF8"/>
          </a:solidFill>
          <a:ln>
            <a:solidFill>
              <a:srgbClr val="E0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5852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19374B"/>
                </a:solidFill>
                <a:latin typeface="Aptos"/>
              </a:rPr>
              <a:t>EV CHARGING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5852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1F9789"/>
                </a:solidFill>
                <a:latin typeface="Aptos"/>
              </a:rPr>
              <a:t>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03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647378"/>
                </a:solidFill>
                <a:latin typeface="Aptos"/>
              </a:rPr>
              <a:t>Smart scheduling for faster, cleaner and more efficient
Electric Vehicle charging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37560"/>
            <a:ext cx="1325880" cy="411480"/>
          </a:xfrm>
          <a:prstGeom prst="roundRect">
            <a:avLst/>
          </a:prstGeom>
          <a:solidFill>
            <a:srgbClr val="DAF1ED"/>
          </a:solidFill>
          <a:ln>
            <a:solidFill>
              <a:srgbClr val="DA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55848"/>
            <a:ext cx="1325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74B"/>
                </a:solidFill>
                <a:latin typeface="Aptos"/>
              </a:rPr>
              <a:t>SMART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3337560"/>
            <a:ext cx="1325880" cy="411480"/>
          </a:xfrm>
          <a:prstGeom prst="roundRect">
            <a:avLst/>
          </a:prstGeom>
          <a:solidFill>
            <a:srgbClr val="E0EEF8"/>
          </a:solidFill>
          <a:ln>
            <a:solidFill>
              <a:srgbClr val="E0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355848"/>
            <a:ext cx="1325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74B"/>
                </a:solidFill>
                <a:latin typeface="Aptos"/>
              </a:rPr>
              <a:t>EFFICIENT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337560"/>
            <a:ext cx="1325880" cy="411480"/>
          </a:xfrm>
          <a:prstGeom prst="roundRect">
            <a:avLst/>
          </a:prstGeom>
          <a:solidFill>
            <a:srgbClr val="E2F4E8"/>
          </a:solidFill>
          <a:ln>
            <a:solidFill>
              <a:srgbClr val="E2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3355848"/>
            <a:ext cx="1325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9374B"/>
                </a:solidFill>
                <a:latin typeface="Aptos"/>
              </a:rPr>
              <a:t>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5412" y="3552444"/>
            <a:ext cx="4128515" cy="172821"/>
          </a:xfrm>
          <a:prstGeom prst="roundRect">
            <a:avLst/>
          </a:prstGeom>
          <a:solidFill>
            <a:srgbClr val="D7E1E1"/>
          </a:solidFill>
          <a:ln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2544318"/>
            <a:ext cx="3984498" cy="1104138"/>
          </a:xfrm>
          <a:prstGeom prst="roundRect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pezoid 14"/>
          <p:cNvSpPr/>
          <p:nvPr/>
        </p:nvSpPr>
        <p:spPr>
          <a:xfrm>
            <a:off x="7349490" y="1997049"/>
            <a:ext cx="2352294" cy="787298"/>
          </a:xfrm>
          <a:prstGeom prst="trapezoid">
            <a:avLst/>
          </a:prstGeom>
          <a:solidFill>
            <a:srgbClr val="43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pezoid 15"/>
          <p:cNvSpPr/>
          <p:nvPr/>
        </p:nvSpPr>
        <p:spPr>
          <a:xfrm>
            <a:off x="7589520" y="2112264"/>
            <a:ext cx="816102" cy="460857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>
            <a:off x="8549640" y="2112264"/>
            <a:ext cx="816102" cy="460857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3478" y="3312414"/>
            <a:ext cx="595274" cy="595274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97496" y="3456432"/>
            <a:ext cx="307238" cy="30723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53778" y="3312414"/>
            <a:ext cx="595274" cy="595274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97796" y="3456432"/>
            <a:ext cx="307238" cy="30723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29850" y="2784348"/>
            <a:ext cx="172821" cy="172821"/>
          </a:xfrm>
          <a:prstGeom prst="ellipse">
            <a:avLst/>
          </a:prstGeom>
          <a:solidFill>
            <a:srgbClr val="F7BE42"/>
          </a:solidFill>
          <a:ln>
            <a:solidFill>
              <a:srgbClr val="F7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261604" y="2765145"/>
            <a:ext cx="528066" cy="499262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01934" y="1968246"/>
            <a:ext cx="691286" cy="1680210"/>
          </a:xfrm>
          <a:prstGeom prst="roundRect">
            <a:avLst/>
          </a:prstGeom>
          <a:solidFill>
            <a:srgbClr val="FFFFFF"/>
          </a:solidFill>
          <a:ln>
            <a:solidFill>
              <a:srgbClr val="19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045952" y="2160270"/>
            <a:ext cx="403250" cy="345643"/>
          </a:xfrm>
          <a:prstGeom prst="roundRect">
            <a:avLst/>
          </a:prstGeom>
          <a:solidFill>
            <a:srgbClr val="DAF1ED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70767" y="2707538"/>
            <a:ext cx="172821" cy="172821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10133838" y="3072384"/>
            <a:ext cx="816102" cy="240030"/>
          </a:xfrm>
          <a:prstGeom prst="line">
            <a:avLst/>
          </a:prstGeom>
          <a:ln w="38100">
            <a:solidFill>
              <a:srgbClr val="193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33388" y="3840480"/>
            <a:ext cx="5280660" cy="0"/>
          </a:xfrm>
          <a:prstGeom prst="line">
            <a:avLst/>
          </a:prstGeom>
          <a:ln w="25400">
            <a:solidFill>
              <a:srgbClr val="BE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897880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47378"/>
                </a:solidFill>
                <a:latin typeface="Aptos"/>
              </a:rPr>
              <a:t>7-SLIDE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Why do we need an EV charging scheduler?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7548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9374B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023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"/>
              </a:spcAft>
              <a:defRPr sz="1550">
                <a:solidFill>
                  <a:srgbClr val="2D373C"/>
                </a:solidFill>
                <a:latin typeface="Aptos"/>
              </a:defRPr>
            </a:pPr>
            <a:r>
              <a:t>●  Many EVs may request charging at the same time.</a:t>
            </a:r>
          </a:p>
          <a:p>
            <a:pPr>
              <a:spcAft>
                <a:spcPts val="72"/>
              </a:spcAft>
              <a:defRPr sz="1550">
                <a:solidFill>
                  <a:srgbClr val="2D373C"/>
                </a:solidFill>
                <a:latin typeface="Aptos"/>
              </a:defRPr>
            </a:pPr>
            <a:r>
              <a:t>●  Limited chargers can create queues and waiting time.</a:t>
            </a:r>
          </a:p>
          <a:p>
            <a:pPr>
              <a:spcAft>
                <a:spcPts val="72"/>
              </a:spcAft>
              <a:defRPr sz="1550">
                <a:solidFill>
                  <a:srgbClr val="2D373C"/>
                </a:solidFill>
                <a:latin typeface="Aptos"/>
              </a:defRPr>
            </a:pPr>
            <a:r>
              <a:t>●  Electricity demand changes during the day.</a:t>
            </a:r>
          </a:p>
          <a:p>
            <a:pPr>
              <a:spcAft>
                <a:spcPts val="72"/>
              </a:spcAft>
              <a:defRPr sz="1550">
                <a:solidFill>
                  <a:srgbClr val="2D373C"/>
                </a:solidFill>
                <a:latin typeface="Aptos"/>
              </a:defRPr>
            </a:pPr>
            <a:r>
              <a:t>●  A scheduler assigns the right time and charger to each EV.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7668" y="3305556"/>
            <a:ext cx="3735324" cy="156362"/>
          </a:xfrm>
          <a:prstGeom prst="roundRect">
            <a:avLst/>
          </a:prstGeom>
          <a:solidFill>
            <a:srgbClr val="D7E1E1"/>
          </a:solidFill>
          <a:ln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393441"/>
            <a:ext cx="3605022" cy="998981"/>
          </a:xfrm>
          <a:prstGeom prst="roundRect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pezoid 9"/>
          <p:cNvSpPr/>
          <p:nvPr/>
        </p:nvSpPr>
        <p:spPr>
          <a:xfrm>
            <a:off x="7052310" y="1898294"/>
            <a:ext cx="2128266" cy="712317"/>
          </a:xfrm>
          <a:prstGeom prst="trapezoid">
            <a:avLst/>
          </a:prstGeom>
          <a:solidFill>
            <a:srgbClr val="46B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pezoid 10"/>
          <p:cNvSpPr/>
          <p:nvPr/>
        </p:nvSpPr>
        <p:spPr>
          <a:xfrm>
            <a:off x="7269480" y="2002536"/>
            <a:ext cx="738378" cy="416966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pezoid 11"/>
          <p:cNvSpPr/>
          <p:nvPr/>
        </p:nvSpPr>
        <p:spPr>
          <a:xfrm>
            <a:off x="8138160" y="2002536"/>
            <a:ext cx="738378" cy="416966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65442" y="3088386"/>
            <a:ext cx="538581" cy="538581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95744" y="3218688"/>
            <a:ext cx="277977" cy="27797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37142" y="3088386"/>
            <a:ext cx="538581" cy="538581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67444" y="3218688"/>
            <a:ext cx="277977" cy="27797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58350" y="2610612"/>
            <a:ext cx="156362" cy="156362"/>
          </a:xfrm>
          <a:prstGeom prst="ellipse">
            <a:avLst/>
          </a:prstGeom>
          <a:solidFill>
            <a:srgbClr val="F7BE42"/>
          </a:solidFill>
          <a:ln>
            <a:solidFill>
              <a:srgbClr val="F7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877556" y="2593238"/>
            <a:ext cx="477773" cy="451713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66426" y="1872234"/>
            <a:ext cx="625449" cy="1520189"/>
          </a:xfrm>
          <a:prstGeom prst="roundRect">
            <a:avLst/>
          </a:prstGeom>
          <a:solidFill>
            <a:srgbClr val="FFFFFF"/>
          </a:solidFill>
          <a:ln>
            <a:solidFill>
              <a:srgbClr val="19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96728" y="2045969"/>
            <a:ext cx="364845" cy="312724"/>
          </a:xfrm>
          <a:prstGeom prst="roundRect">
            <a:avLst/>
          </a:prstGeom>
          <a:solidFill>
            <a:srgbClr val="DAF1ED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09656" y="2541117"/>
            <a:ext cx="156362" cy="15636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9571482" y="2871215"/>
            <a:ext cx="738377" cy="217171"/>
          </a:xfrm>
          <a:prstGeom prst="line">
            <a:avLst/>
          </a:prstGeom>
          <a:ln w="38100">
            <a:solidFill>
              <a:srgbClr val="193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13932" y="3566160"/>
            <a:ext cx="4777740" cy="0"/>
          </a:xfrm>
          <a:prstGeom prst="line">
            <a:avLst/>
          </a:prstGeom>
          <a:ln w="25400">
            <a:solidFill>
              <a:srgbClr val="BE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172200" y="3794760"/>
            <a:ext cx="384048" cy="384048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79476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77647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9374B"/>
                </a:solidFill>
                <a:latin typeface="Aptos"/>
              </a:rPr>
              <a:t>EV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76472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Battery + time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4572000"/>
            <a:ext cx="384048" cy="384048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57200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55371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9374B"/>
                </a:solidFill>
                <a:latin typeface="Aptos"/>
              </a:rPr>
              <a:t>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553712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Finds a slot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5349240"/>
            <a:ext cx="384048" cy="384048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34924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5330952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9374B"/>
                </a:solidFill>
                <a:latin typeface="Aptos"/>
              </a:rPr>
              <a:t>Charging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5330952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Starts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2. How the Scheduler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A simple flow from EV arrival to optimized charging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6152" y="2057400"/>
            <a:ext cx="621792" cy="62179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75688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5292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74B"/>
                </a:solidFill>
                <a:latin typeface="Aptos"/>
              </a:rPr>
              <a:t>EV CONNECTS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508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647378"/>
                </a:solidFill>
                <a:latin typeface="Aptos"/>
              </a:rPr>
              <a:t>Vehicle arrives
and plugs 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79" y="3154680"/>
            <a:ext cx="347473" cy="0"/>
          </a:xfrm>
          <a:prstGeom prst="line">
            <a:avLst/>
          </a:prstGeom>
          <a:ln w="31750">
            <a:solidFill>
              <a:srgbClr val="1F9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2072" y="1828800"/>
            <a:ext cx="187451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3864" y="2057400"/>
            <a:ext cx="621792" cy="621792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075688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85292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74B"/>
                </a:solidFill>
                <a:latin typeface="Aptos"/>
              </a:rPr>
              <a:t>DATA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337560"/>
            <a:ext cx="1508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647378"/>
                </a:solidFill>
                <a:latin typeface="Aptos"/>
              </a:rPr>
              <a:t>Battery, arrival &amp;
departure 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6592" y="3154680"/>
            <a:ext cx="347472" cy="0"/>
          </a:xfrm>
          <a:prstGeom prst="line">
            <a:avLst/>
          </a:prstGeom>
          <a:ln w="31750">
            <a:solidFill>
              <a:srgbClr val="1F9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9784" y="1828800"/>
            <a:ext cx="187451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51576" y="2057400"/>
            <a:ext cx="621792" cy="621792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2075688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85292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74B"/>
                </a:solidFill>
                <a:latin typeface="Aptos"/>
              </a:rPr>
              <a:t>SLOT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337560"/>
            <a:ext cx="1508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647378"/>
                </a:solidFill>
                <a:latin typeface="Aptos"/>
              </a:rPr>
              <a:t>Charger and grid
availability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4304" y="3154680"/>
            <a:ext cx="347472" cy="0"/>
          </a:xfrm>
          <a:prstGeom prst="line">
            <a:avLst/>
          </a:prstGeom>
          <a:ln w="31750">
            <a:solidFill>
              <a:srgbClr val="1F9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97496" y="1828800"/>
            <a:ext cx="187451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19288" y="2057400"/>
            <a:ext cx="621792" cy="621792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2075688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85292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74B"/>
                </a:solidFill>
                <a:latin typeface="Aptos"/>
              </a:rPr>
              <a:t>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3337560"/>
            <a:ext cx="1508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647378"/>
                </a:solidFill>
                <a:latin typeface="Aptos"/>
              </a:rPr>
              <a:t>Best charging slot
is selected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72016" y="3154680"/>
            <a:ext cx="347472" cy="0"/>
          </a:xfrm>
          <a:prstGeom prst="line">
            <a:avLst/>
          </a:prstGeom>
          <a:ln w="31750">
            <a:solidFill>
              <a:srgbClr val="1F9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65208" y="1828800"/>
            <a:ext cx="1874519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7000" y="2057400"/>
            <a:ext cx="621792" cy="62179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075688"/>
            <a:ext cx="62179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85292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374B"/>
                </a:solidFill>
                <a:latin typeface="Aptos"/>
              </a:rPr>
              <a:t>CHARGE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337560"/>
            <a:ext cx="1508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0">
                <a:solidFill>
                  <a:srgbClr val="647378"/>
                </a:solidFill>
                <a:latin typeface="Aptos"/>
              </a:rPr>
              <a:t>EV charges at the
assigned 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074920"/>
            <a:ext cx="8503920" cy="777240"/>
          </a:xfrm>
          <a:prstGeom prst="roundRect">
            <a:avLst/>
          </a:prstGeom>
          <a:solidFill>
            <a:srgbClr val="DAF1ED"/>
          </a:solidFill>
          <a:ln>
            <a:solidFill>
              <a:srgbClr val="DA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5193792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19374B"/>
                </a:solidFill>
                <a:latin typeface="Aptos"/>
              </a:rPr>
              <a:t>EV needs  →  Scheduler decides  →  Charger executes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3.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What makes the scheduler smart?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700784"/>
            <a:ext cx="621792" cy="62179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164592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Battery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98424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Tracks current state of charge and target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700784"/>
            <a:ext cx="621792" cy="621792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0078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164592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Charger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98424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Shows available, busy and reserved chargers.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3118104"/>
            <a:ext cx="621792" cy="621792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1810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06324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Time-Slot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340156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Assigns charging windows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8036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118104"/>
            <a:ext cx="621792" cy="621792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11810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06324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Cost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340156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Can shift charging toward lower-cost periods.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535424"/>
            <a:ext cx="621792" cy="62179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48056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81888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Alerts users about start time and completion.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297680"/>
            <a:ext cx="51663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28232" y="4535424"/>
            <a:ext cx="621792" cy="621792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535424"/>
            <a:ext cx="621792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480560"/>
            <a:ext cx="3566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9374B"/>
                </a:solidFill>
                <a:latin typeface="Aptos"/>
              </a:rPr>
              <a:t>Energy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4818888"/>
            <a:ext cx="374903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647378"/>
                </a:solidFill>
                <a:latin typeface="Aptos"/>
              </a:rPr>
              <a:t>Balances demand and supports renewable energy.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2228" y="6231636"/>
            <a:ext cx="1769364" cy="74066"/>
          </a:xfrm>
          <a:prstGeom prst="roundRect">
            <a:avLst/>
          </a:prstGeom>
          <a:solidFill>
            <a:srgbClr val="D7E1E1"/>
          </a:solidFill>
          <a:ln>
            <a:solidFill>
              <a:srgbClr val="D7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41080" y="5799582"/>
            <a:ext cx="1707642" cy="473201"/>
          </a:xfrm>
          <a:prstGeom prst="roundRect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pezoid 36"/>
          <p:cNvSpPr/>
          <p:nvPr/>
        </p:nvSpPr>
        <p:spPr>
          <a:xfrm>
            <a:off x="8949690" y="5565038"/>
            <a:ext cx="1008126" cy="337413"/>
          </a:xfrm>
          <a:prstGeom prst="trapezoid">
            <a:avLst/>
          </a:prstGeom>
          <a:solidFill>
            <a:srgbClr val="43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pezoid 37"/>
          <p:cNvSpPr/>
          <p:nvPr/>
        </p:nvSpPr>
        <p:spPr>
          <a:xfrm>
            <a:off x="9052559" y="5614416"/>
            <a:ext cx="349758" cy="197510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pezoid 38"/>
          <p:cNvSpPr/>
          <p:nvPr/>
        </p:nvSpPr>
        <p:spPr>
          <a:xfrm>
            <a:off x="9464040" y="5614416"/>
            <a:ext cx="349758" cy="197510"/>
          </a:xfrm>
          <a:prstGeom prst="trapezoid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08542" y="6128766"/>
            <a:ext cx="255117" cy="255117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70264" y="6190488"/>
            <a:ext cx="131673" cy="13167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37242" y="6128766"/>
            <a:ext cx="255117" cy="255117"/>
          </a:xfrm>
          <a:prstGeom prst="ellipse">
            <a:avLst/>
          </a:prstGeom>
          <a:solidFill>
            <a:srgbClr val="2D373C"/>
          </a:solidFill>
          <a:ln>
            <a:solidFill>
              <a:srgbClr val="2D3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98964" y="6190488"/>
            <a:ext cx="131673" cy="13167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184130" y="5902452"/>
            <a:ext cx="74066" cy="74066"/>
          </a:xfrm>
          <a:prstGeom prst="ellipse">
            <a:avLst/>
          </a:prstGeom>
          <a:solidFill>
            <a:srgbClr val="F7BE42"/>
          </a:solidFill>
          <a:ln>
            <a:solidFill>
              <a:srgbClr val="F7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>
            <a:off x="9340596" y="5894222"/>
            <a:ext cx="226314" cy="213969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472165" y="5552694"/>
            <a:ext cx="296265" cy="720090"/>
          </a:xfrm>
          <a:prstGeom prst="roundRect">
            <a:avLst/>
          </a:prstGeom>
          <a:solidFill>
            <a:srgbClr val="FFFFFF"/>
          </a:solidFill>
          <a:ln>
            <a:solidFill>
              <a:srgbClr val="19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33888" y="5634990"/>
            <a:ext cx="172821" cy="148132"/>
          </a:xfrm>
          <a:prstGeom prst="roundRect">
            <a:avLst/>
          </a:prstGeom>
          <a:solidFill>
            <a:srgbClr val="DAF1ED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87380" y="5869533"/>
            <a:ext cx="74066" cy="74066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10142982" y="6025896"/>
            <a:ext cx="349758" cy="102870"/>
          </a:xfrm>
          <a:prstGeom prst="line">
            <a:avLst/>
          </a:prstGeom>
          <a:ln w="38100">
            <a:solidFill>
              <a:srgbClr val="193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99932" y="6355080"/>
            <a:ext cx="2263140" cy="0"/>
          </a:xfrm>
          <a:prstGeom prst="line">
            <a:avLst/>
          </a:prstGeom>
          <a:ln w="25400">
            <a:solidFill>
              <a:srgbClr val="BE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4. Scheduling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The scheduler balances urgency, availability and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788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9374B"/>
                </a:solidFill>
                <a:latin typeface="Aptos"/>
              </a:rPr>
              <a:t>INPUT DATA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40280"/>
            <a:ext cx="365760" cy="36576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21992"/>
            <a:ext cx="1508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D373C"/>
                </a:solidFill>
                <a:latin typeface="Aptos"/>
              </a:rPr>
              <a:t>Battery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365760" cy="36576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816352"/>
            <a:ext cx="1508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D373C"/>
                </a:solidFill>
                <a:latin typeface="Aptos"/>
              </a:rPr>
              <a:t>Arrival time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410712"/>
            <a:ext cx="1508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D373C"/>
                </a:solidFill>
                <a:latin typeface="Aptos"/>
              </a:rPr>
              <a:t>Departure time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005072"/>
            <a:ext cx="1508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D373C"/>
                </a:solidFill>
                <a:latin typeface="Aptos"/>
              </a:rPr>
              <a:t>Charger status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599432"/>
            <a:ext cx="1508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D373C"/>
                </a:solidFill>
                <a:latin typeface="Aptos"/>
              </a:rPr>
              <a:t>Energy price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828800"/>
            <a:ext cx="3886200" cy="3520440"/>
          </a:xfrm>
          <a:prstGeom prst="roundRect">
            <a:avLst/>
          </a:prstGeom>
          <a:solidFill>
            <a:srgbClr val="DAF1ED"/>
          </a:solidFill>
          <a:ln>
            <a:solidFill>
              <a:srgbClr val="DA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148840"/>
            <a:ext cx="3246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19374B"/>
                </a:solidFill>
                <a:latin typeface="Aptos"/>
              </a:rPr>
              <a:t>SMART DECISION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788920"/>
            <a:ext cx="3063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07408" y="2898648"/>
            <a:ext cx="310896" cy="310896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8032" y="2852927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9374B"/>
                </a:solidFill>
                <a:latin typeface="Aptos"/>
              </a:rPr>
              <a:t>Urgency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3872" y="2852927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80" b="0">
                <a:solidFill>
                  <a:srgbClr val="647378"/>
                </a:solidFill>
                <a:latin typeface="Aptos"/>
              </a:rPr>
              <a:t>Needs charge soon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502152"/>
            <a:ext cx="3063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07408" y="3611880"/>
            <a:ext cx="310896" cy="310896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3566160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9374B"/>
                </a:solidFill>
                <a:latin typeface="Aptos"/>
              </a:rPr>
              <a:t>Availability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3872" y="3566160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80" b="0">
                <a:solidFill>
                  <a:srgbClr val="647378"/>
                </a:solidFill>
                <a:latin typeface="Aptos"/>
              </a:rPr>
              <a:t>Free charger / slot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215383"/>
            <a:ext cx="30632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07408" y="4325112"/>
            <a:ext cx="310896" cy="310896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4279392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1">
                <a:solidFill>
                  <a:srgbClr val="19374B"/>
                </a:solidFill>
                <a:latin typeface="Aptos"/>
              </a:rPr>
              <a:t>Demand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4279392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80" b="0">
                <a:solidFill>
                  <a:srgbClr val="647378"/>
                </a:solidFill>
                <a:latin typeface="Aptos"/>
              </a:rPr>
              <a:t>Avoid peak load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83879" y="141732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169164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9374B"/>
                </a:solidFill>
                <a:latin typeface="Aptos"/>
              </a:rPr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2331720"/>
            <a:ext cx="2651760" cy="475488"/>
          </a:xfrm>
          <a:prstGeom prst="roundRect">
            <a:avLst/>
          </a:prstGeom>
          <a:solidFill>
            <a:srgbClr val="ECF4F4"/>
          </a:solidFill>
          <a:ln>
            <a:solidFill>
              <a:srgbClr val="EC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2404872"/>
            <a:ext cx="594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9374B"/>
                </a:solidFill>
                <a:latin typeface="Aptos"/>
              </a:rPr>
              <a:t>09:00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2404872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D373C"/>
                </a:solidFill>
                <a:latin typeface="Aptos"/>
              </a:rPr>
              <a:t>EV 01</a:t>
            </a:r>
          </a:p>
        </p:txBody>
      </p:sp>
      <p:sp>
        <p:nvSpPr>
          <p:cNvPr id="46" name="Oval 45"/>
          <p:cNvSpPr/>
          <p:nvPr/>
        </p:nvSpPr>
        <p:spPr>
          <a:xfrm>
            <a:off x="10808208" y="2441448"/>
            <a:ext cx="228600" cy="22860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49640" y="2990087"/>
            <a:ext cx="2651760" cy="475488"/>
          </a:xfrm>
          <a:prstGeom prst="roundRect">
            <a:avLst/>
          </a:prstGeom>
          <a:solidFill>
            <a:srgbClr val="ECF4F4"/>
          </a:solidFill>
          <a:ln>
            <a:solidFill>
              <a:srgbClr val="EC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2520" y="3063239"/>
            <a:ext cx="594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9374B"/>
                </a:solidFill>
                <a:latin typeface="Aptos"/>
              </a:rPr>
              <a:t>10:30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063239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D373C"/>
                </a:solidFill>
                <a:latin typeface="Aptos"/>
              </a:rPr>
              <a:t>EV 03</a:t>
            </a:r>
          </a:p>
        </p:txBody>
      </p:sp>
      <p:sp>
        <p:nvSpPr>
          <p:cNvPr id="50" name="Oval 49"/>
          <p:cNvSpPr/>
          <p:nvPr/>
        </p:nvSpPr>
        <p:spPr>
          <a:xfrm>
            <a:off x="10808208" y="3099815"/>
            <a:ext cx="228600" cy="228600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49640" y="3648456"/>
            <a:ext cx="2651760" cy="475488"/>
          </a:xfrm>
          <a:prstGeom prst="roundRect">
            <a:avLst/>
          </a:prstGeom>
          <a:solidFill>
            <a:srgbClr val="ECF4F4"/>
          </a:solidFill>
          <a:ln>
            <a:solidFill>
              <a:srgbClr val="EC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3721607"/>
            <a:ext cx="594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9374B"/>
                </a:solidFill>
                <a:latin typeface="Aptos"/>
              </a:rPr>
              <a:t>12:00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3721607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D373C"/>
                </a:solidFill>
                <a:latin typeface="Aptos"/>
              </a:rPr>
              <a:t>EV 02</a:t>
            </a:r>
          </a:p>
        </p:txBody>
      </p:sp>
      <p:sp>
        <p:nvSpPr>
          <p:cNvPr id="54" name="Oval 53"/>
          <p:cNvSpPr/>
          <p:nvPr/>
        </p:nvSpPr>
        <p:spPr>
          <a:xfrm>
            <a:off x="10808208" y="3758183"/>
            <a:ext cx="228600" cy="228600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549640" y="4306824"/>
            <a:ext cx="2651760" cy="475488"/>
          </a:xfrm>
          <a:prstGeom prst="roundRect">
            <a:avLst/>
          </a:prstGeom>
          <a:solidFill>
            <a:srgbClr val="ECF4F4"/>
          </a:solidFill>
          <a:ln>
            <a:solidFill>
              <a:srgbClr val="EC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2520" y="4379976"/>
            <a:ext cx="594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9374B"/>
                </a:solidFill>
                <a:latin typeface="Aptos"/>
              </a:rPr>
              <a:t>14:00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4379976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D373C"/>
                </a:solidFill>
                <a:latin typeface="Aptos"/>
              </a:rPr>
              <a:t>EV 04</a:t>
            </a:r>
          </a:p>
        </p:txBody>
      </p:sp>
      <p:sp>
        <p:nvSpPr>
          <p:cNvPr id="58" name="Oval 57"/>
          <p:cNvSpPr/>
          <p:nvPr/>
        </p:nvSpPr>
        <p:spPr>
          <a:xfrm>
            <a:off x="10808208" y="4416552"/>
            <a:ext cx="228600" cy="228600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9640" y="516636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F9789"/>
                </a:solidFill>
                <a:latin typeface="Aptos"/>
              </a:rPr>
              <a:t>Optimized charging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5.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What the system improves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938528"/>
            <a:ext cx="960120" cy="960120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938528"/>
            <a:ext cx="960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9374B"/>
                </a:solidFill>
                <a:latin typeface="Aptos"/>
              </a:rPr>
              <a:t>WAITING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0332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0" b="0">
                <a:solidFill>
                  <a:srgbClr val="647378"/>
                </a:solidFill>
                <a:latin typeface="Aptos"/>
              </a:rPr>
              <a:t>Shorter queues at busy 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60020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79392" y="1938528"/>
            <a:ext cx="960120" cy="960120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938528"/>
            <a:ext cx="960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15468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9374B"/>
                </a:solidFill>
                <a:latin typeface="Aptos"/>
              </a:rPr>
              <a:t>ENERGY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70332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0" b="0">
                <a:solidFill>
                  <a:srgbClr val="647378"/>
                </a:solidFill>
                <a:latin typeface="Aptos"/>
              </a:rPr>
              <a:t>Charges can be shifted to suitable periods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60020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95744" y="1938528"/>
            <a:ext cx="960120" cy="960120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1938528"/>
            <a:ext cx="960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15468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9374B"/>
                </a:solidFill>
                <a:latin typeface="Aptos"/>
              </a:rPr>
              <a:t>UTILIZATION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70332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0" b="0">
                <a:solidFill>
                  <a:srgbClr val="647378"/>
                </a:solidFill>
                <a:latin typeface="Aptos"/>
              </a:rPr>
              <a:t>Better use of available chargers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600200"/>
            <a:ext cx="2514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12096" y="1938528"/>
            <a:ext cx="960120" cy="960120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1938528"/>
            <a:ext cx="9601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154680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9374B"/>
                </a:solidFill>
                <a:latin typeface="Aptos"/>
              </a:rPr>
              <a:t>GRID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703320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20" b="0">
                <a:solidFill>
                  <a:srgbClr val="647378"/>
                </a:solidFill>
                <a:latin typeface="Aptos"/>
              </a:rPr>
              <a:t>Helps avoid unnecessary peak demand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212080"/>
            <a:ext cx="8503920" cy="658368"/>
          </a:xfrm>
          <a:prstGeom prst="roundRect">
            <a:avLst/>
          </a:prstGeom>
          <a:solidFill>
            <a:srgbClr val="E0EEF8"/>
          </a:solidFill>
          <a:ln>
            <a:solidFill>
              <a:srgbClr val="E0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5321808"/>
            <a:ext cx="8229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9374B"/>
                </a:solidFill>
                <a:latin typeface="Aptos"/>
              </a:rPr>
              <a:t>Convenience  +  Efficiency  +  Cleaner energy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9374B"/>
                </a:solidFill>
                <a:latin typeface="Aptos"/>
              </a:rPr>
              <a:t>6. 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64008"/>
          </a:xfrm>
          <a:prstGeom prst="rect">
            <a:avLst/>
          </a:prstGeom>
          <a:solidFill>
            <a:srgbClr val="1F9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47378"/>
                </a:solidFill>
                <a:latin typeface="Aptos"/>
              </a:rPr>
              <a:t>From scheduled charging to intelligent EV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9374B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480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"/>
              </a:spcAft>
              <a:defRPr sz="1500">
                <a:solidFill>
                  <a:srgbClr val="2D373C"/>
                </a:solidFill>
                <a:latin typeface="Aptos"/>
              </a:defRPr>
            </a:pPr>
            <a:r>
              <a:t>●  Automatically organizes charging requests.</a:t>
            </a:r>
          </a:p>
          <a:p>
            <a:pPr>
              <a:spcAft>
                <a:spcPts val="72"/>
              </a:spcAft>
              <a:defRPr sz="1500">
                <a:solidFill>
                  <a:srgbClr val="2D373C"/>
                </a:solidFill>
                <a:latin typeface="Aptos"/>
              </a:defRPr>
            </a:pPr>
            <a:r>
              <a:t>●  Reduces congestion and unnecessary waiting.</a:t>
            </a:r>
          </a:p>
          <a:p>
            <a:pPr>
              <a:spcAft>
                <a:spcPts val="72"/>
              </a:spcAft>
              <a:defRPr sz="1500">
                <a:solidFill>
                  <a:srgbClr val="2D373C"/>
                </a:solidFill>
                <a:latin typeface="Aptos"/>
              </a:defRPr>
            </a:pPr>
            <a:r>
              <a:t>●  Uses charger and energy information to make better schedules.</a:t>
            </a:r>
          </a:p>
          <a:p>
            <a:pPr>
              <a:spcAft>
                <a:spcPts val="72"/>
              </a:spcAft>
              <a:defRPr sz="1500">
                <a:solidFill>
                  <a:srgbClr val="2D373C"/>
                </a:solidFill>
                <a:latin typeface="Aptos"/>
              </a:defRPr>
            </a:pPr>
            <a:r>
              <a:t>●  Creates a foundation for smart-grid connected EV charging.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983480"/>
            <a:ext cx="4526280" cy="566928"/>
          </a:xfrm>
          <a:prstGeom prst="roundRect">
            <a:avLst/>
          </a:prstGeom>
          <a:solidFill>
            <a:srgbClr val="DAF1ED"/>
          </a:solidFill>
          <a:ln>
            <a:solidFill>
              <a:srgbClr val="DA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4343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1F9789"/>
                </a:solidFill>
                <a:latin typeface="Aptos"/>
              </a:rPr>
              <a:t>SMART CHARGING → SMARTER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9374B"/>
                </a:solidFill>
                <a:latin typeface="Aptos"/>
              </a:rPr>
              <a:t>Future Scope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2331720"/>
            <a:ext cx="438912" cy="438912"/>
          </a:xfrm>
          <a:prstGeom prst="ellipse">
            <a:avLst/>
          </a:prstGeom>
          <a:solidFill>
            <a:srgbClr val="1F9789"/>
          </a:solidFill>
          <a:ln>
            <a:solidFill>
              <a:srgbClr val="1F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313432"/>
            <a:ext cx="3794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373C"/>
                </a:solidFill>
                <a:latin typeface="Aptos"/>
              </a:rPr>
              <a:t>Predict demand and charging needs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3081527"/>
            <a:ext cx="438912" cy="438912"/>
          </a:xfrm>
          <a:prstGeom prst="ellipse">
            <a:avLst/>
          </a:prstGeom>
          <a:solidFill>
            <a:srgbClr val="46B575"/>
          </a:solidFill>
          <a:ln>
            <a:solidFill>
              <a:srgbClr val="46B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81527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063239"/>
            <a:ext cx="3794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373C"/>
                </a:solidFill>
                <a:latin typeface="Aptos"/>
              </a:rPr>
              <a:t>Solar-powered charging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3831335"/>
            <a:ext cx="438912" cy="438912"/>
          </a:xfrm>
          <a:prstGeom prst="ellipse">
            <a:avLst/>
          </a:prstGeom>
          <a:solidFill>
            <a:srgbClr val="438BCA"/>
          </a:solidFill>
          <a:ln>
            <a:solidFill>
              <a:srgbClr val="438B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831335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813048"/>
            <a:ext cx="3794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373C"/>
                </a:solidFill>
                <a:latin typeface="Aptos"/>
              </a:rPr>
              <a:t>Vehicle-to-Grid (V2G)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4581144"/>
            <a:ext cx="438912" cy="438912"/>
          </a:xfrm>
          <a:prstGeom prst="ellipse">
            <a:avLst/>
          </a:prstGeom>
          <a:solidFill>
            <a:srgbClr val="EB7E41"/>
          </a:solidFill>
          <a:ln>
            <a:solidFill>
              <a:srgbClr val="EB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581144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562856"/>
            <a:ext cx="3794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373C"/>
                </a:solidFill>
                <a:latin typeface="Aptos"/>
              </a:rPr>
              <a:t>Cloud-based station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647378"/>
                </a:solidFill>
                <a:latin typeface="Aptos"/>
              </a:rPr>
              <a:t>EV CHARGING SCHEDULER  •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Scheduler</dc:title>
  <dc:subject>7-slide presentation on EV Charging Scheduler</dc:subject>
  <dc:creator>OpenAI</dc:creator>
  <cp:keywords>EV, Electric Vehicle, Charging, Scheduler, Smart Charging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